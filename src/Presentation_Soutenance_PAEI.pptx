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Modélisation du Risque de Crédit</a:t>
            </a:r>
          </a:p>
          <a:p>
            <a:r>
              <a:t>(Credit Risk Scoring)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Projet</a:t>
            </a:r>
            <a:r>
              <a:rPr dirty="0"/>
              <a:t> PAEI</a:t>
            </a:r>
          </a:p>
          <a:p>
            <a:endParaRPr dirty="0"/>
          </a:p>
          <a:p>
            <a:r>
              <a:rPr dirty="0" err="1"/>
              <a:t>Présenté</a:t>
            </a:r>
            <a:r>
              <a:rPr dirty="0"/>
              <a:t> par : David Janvion HAMAYADJI NGOMNA</a:t>
            </a:r>
          </a:p>
          <a:p>
            <a:r>
              <a:rPr dirty="0" err="1"/>
              <a:t>Encadrant</a:t>
            </a:r>
            <a:r>
              <a:rPr dirty="0"/>
              <a:t> : Ing. </a:t>
            </a:r>
            <a:r>
              <a:rPr dirty="0" err="1"/>
              <a:t>Archange</a:t>
            </a:r>
            <a:r>
              <a:rPr dirty="0"/>
              <a:t> KOUMBA MOU</a:t>
            </a:r>
            <a:r>
              <a:rPr lang="en-US" dirty="0"/>
              <a:t>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Contexte &amp; 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13531" cy="4525963"/>
          </a:xfrm>
        </p:spPr>
        <p:txBody>
          <a:bodyPr>
            <a:normAutofit fontScale="92500"/>
          </a:bodyPr>
          <a:lstStyle/>
          <a:p>
            <a:r>
              <a:rPr dirty="0" err="1"/>
              <a:t>Problématique</a:t>
            </a:r>
            <a:r>
              <a:rPr dirty="0"/>
              <a:t> :</a:t>
            </a:r>
          </a:p>
          <a:p>
            <a:pPr lvl="1"/>
            <a:r>
              <a:rPr dirty="0"/>
              <a:t>Comment </a:t>
            </a:r>
            <a:r>
              <a:rPr dirty="0" err="1"/>
              <a:t>anticiper</a:t>
            </a:r>
            <a:r>
              <a:rPr dirty="0"/>
              <a:t> le </a:t>
            </a:r>
            <a:r>
              <a:rPr dirty="0" err="1"/>
              <a:t>défaut</a:t>
            </a:r>
            <a:r>
              <a:rPr dirty="0"/>
              <a:t> de </a:t>
            </a:r>
            <a:r>
              <a:rPr dirty="0" err="1"/>
              <a:t>paiement</a:t>
            </a:r>
            <a:r>
              <a:rPr dirty="0"/>
              <a:t> d'un client </a:t>
            </a:r>
            <a:r>
              <a:rPr dirty="0" err="1"/>
              <a:t>bancaire</a:t>
            </a:r>
            <a:r>
              <a:rPr dirty="0"/>
              <a:t> pour </a:t>
            </a:r>
            <a:r>
              <a:rPr dirty="0" err="1"/>
              <a:t>sécuriser</a:t>
            </a:r>
            <a:r>
              <a:rPr dirty="0"/>
              <a:t> les octrois de </a:t>
            </a:r>
            <a:r>
              <a:rPr dirty="0" err="1"/>
              <a:t>crédits</a:t>
            </a:r>
            <a:r>
              <a:rPr dirty="0"/>
              <a:t> ?</a:t>
            </a:r>
          </a:p>
          <a:p>
            <a:r>
              <a:rPr dirty="0" err="1"/>
              <a:t>Objectifs</a:t>
            </a:r>
            <a:r>
              <a:rPr dirty="0"/>
              <a:t> du </a:t>
            </a:r>
            <a:r>
              <a:rPr dirty="0" err="1"/>
              <a:t>projet</a:t>
            </a:r>
            <a:r>
              <a:rPr dirty="0"/>
              <a:t> :</a:t>
            </a:r>
          </a:p>
          <a:p>
            <a:pPr lvl="1"/>
            <a:r>
              <a:rPr dirty="0" err="1"/>
              <a:t>Traiter</a:t>
            </a:r>
            <a:r>
              <a:rPr dirty="0"/>
              <a:t> et </a:t>
            </a:r>
            <a:r>
              <a:rPr dirty="0" err="1"/>
              <a:t>analyser</a:t>
            </a:r>
            <a:r>
              <a:rPr dirty="0"/>
              <a:t> 250 000 </a:t>
            </a:r>
            <a:r>
              <a:rPr dirty="0" err="1"/>
              <a:t>profils</a:t>
            </a:r>
            <a:r>
              <a:rPr dirty="0"/>
              <a:t> clients (Dataset Kaggle).</a:t>
            </a:r>
          </a:p>
          <a:p>
            <a:pPr lvl="1"/>
            <a:r>
              <a:rPr dirty="0" err="1"/>
              <a:t>Construire</a:t>
            </a:r>
            <a:r>
              <a:rPr dirty="0"/>
              <a:t> un </a:t>
            </a:r>
            <a:r>
              <a:rPr dirty="0" err="1"/>
              <a:t>Indice</a:t>
            </a:r>
            <a:r>
              <a:rPr dirty="0"/>
              <a:t> de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fiable</a:t>
            </a:r>
            <a:r>
              <a:rPr dirty="0"/>
              <a:t> et </a:t>
            </a:r>
            <a:r>
              <a:rPr dirty="0" err="1"/>
              <a:t>interprétable</a:t>
            </a:r>
            <a:r>
              <a:rPr dirty="0"/>
              <a:t>.</a:t>
            </a:r>
          </a:p>
          <a:p>
            <a:pPr lvl="1"/>
            <a:r>
              <a:rPr dirty="0" err="1"/>
              <a:t>Déployer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interface </a:t>
            </a:r>
            <a:r>
              <a:rPr dirty="0" err="1"/>
              <a:t>visuelle</a:t>
            </a:r>
            <a:r>
              <a:rPr dirty="0"/>
              <a:t> </a:t>
            </a:r>
            <a:r>
              <a:rPr dirty="0" err="1"/>
              <a:t>d'aide</a:t>
            </a:r>
            <a:r>
              <a:rPr dirty="0"/>
              <a:t> à la </a:t>
            </a:r>
            <a:r>
              <a:rPr dirty="0" err="1"/>
              <a:t>décision</a:t>
            </a:r>
            <a:r>
              <a:rPr dirty="0"/>
              <a:t> (</a:t>
            </a:r>
            <a:r>
              <a:rPr dirty="0" err="1"/>
              <a:t>Outil</a:t>
            </a:r>
            <a:r>
              <a:rPr dirty="0"/>
              <a:t> Back-Office).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Préparation et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de la donnée brute en donnée intelligente :</a:t>
            </a:r>
          </a:p>
          <a:p>
            <a:pPr lvl="1"/>
            <a:r>
              <a:t>Création de variables expertes : Calcul du ratio Dette/Revenu (LoanToIncomeRatio).</a:t>
            </a:r>
          </a:p>
          <a:p>
            <a:pPr lvl="1"/>
            <a:r>
              <a:t>Encodage des données (One-Hot Encoding) :</a:t>
            </a:r>
          </a:p>
          <a:p>
            <a:pPr lvl="2"/>
            <a:r>
              <a:t>Transformation des textes (Marié, Célibataire) en variables binaires mathématiques (0 ou 1).</a:t>
            </a:r>
          </a:p>
          <a:p>
            <a:pPr lvl="1"/>
            <a:r>
              <a:t>Mise à l'échelle (StandardScaler) :</a:t>
            </a:r>
          </a:p>
          <a:p>
            <a:pPr lvl="2"/>
            <a:r>
              <a:t>Normalisation des montants pour éviter que les hauts revenus n'écrasent les petits taux d'intérêt.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Exploration : Analyse Bivariée (Preuve Visuelle)</a:t>
            </a:r>
          </a:p>
        </p:txBody>
      </p:sp>
      <p:pic>
        <p:nvPicPr>
          <p:cNvPr id="3" name="Picture 2" descr="bivar_numer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86868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Mesure d'intensité : Matrice de Corrélation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0350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Justification des Algorithmes (IA)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Deux </a:t>
            </a:r>
            <a:r>
              <a:rPr dirty="0" err="1"/>
              <a:t>algorithmes</a:t>
            </a:r>
            <a:r>
              <a:rPr dirty="0"/>
              <a:t> </a:t>
            </a:r>
            <a:r>
              <a:rPr dirty="0" err="1"/>
              <a:t>utilisés</a:t>
            </a:r>
            <a:r>
              <a:rPr dirty="0"/>
              <a:t> avec des </a:t>
            </a:r>
            <a:r>
              <a:rPr dirty="0" err="1"/>
              <a:t>objectifs</a:t>
            </a:r>
            <a:r>
              <a:rPr dirty="0"/>
              <a:t> </a:t>
            </a:r>
            <a:r>
              <a:rPr dirty="0" err="1"/>
              <a:t>distincts</a:t>
            </a:r>
            <a:r>
              <a:rPr dirty="0"/>
              <a:t> :</a:t>
            </a:r>
          </a:p>
          <a:p>
            <a:r>
              <a:rPr dirty="0"/>
              <a:t>Le Random Forest (</a:t>
            </a:r>
            <a:r>
              <a:rPr dirty="0" err="1"/>
              <a:t>Forêt</a:t>
            </a:r>
            <a:r>
              <a:rPr dirty="0"/>
              <a:t> </a:t>
            </a:r>
            <a:r>
              <a:rPr dirty="0" err="1"/>
              <a:t>Aléatoire</a:t>
            </a:r>
            <a:r>
              <a:rPr dirty="0"/>
              <a:t>) :</a:t>
            </a:r>
          </a:p>
          <a:p>
            <a:pPr lvl="1"/>
            <a:r>
              <a:rPr dirty="0" err="1"/>
              <a:t>Utilisé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phase de recherche car </a:t>
            </a:r>
            <a:r>
              <a:rPr dirty="0" err="1"/>
              <a:t>robuste</a:t>
            </a:r>
            <a:r>
              <a:rPr dirty="0"/>
              <a:t> aux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extrêmes</a:t>
            </a:r>
            <a:r>
              <a:rPr dirty="0"/>
              <a:t>.</a:t>
            </a:r>
          </a:p>
          <a:p>
            <a:pPr lvl="1"/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d'extraire</a:t>
            </a:r>
            <a:r>
              <a:rPr dirty="0"/>
              <a:t> </a:t>
            </a:r>
            <a:r>
              <a:rPr dirty="0" err="1"/>
              <a:t>mathématiquement</a:t>
            </a:r>
            <a:r>
              <a:rPr dirty="0"/>
              <a:t> </a:t>
            </a:r>
            <a:r>
              <a:rPr dirty="0" err="1"/>
              <a:t>l'Importance</a:t>
            </a:r>
            <a:r>
              <a:rPr dirty="0"/>
              <a:t> des Variables (Feature Importance).</a:t>
            </a:r>
          </a:p>
          <a:p>
            <a:r>
              <a:rPr dirty="0"/>
              <a:t>La </a:t>
            </a:r>
            <a:r>
              <a:rPr dirty="0" err="1"/>
              <a:t>Régression</a:t>
            </a:r>
            <a:r>
              <a:rPr dirty="0"/>
              <a:t> </a:t>
            </a:r>
            <a:r>
              <a:rPr dirty="0" err="1"/>
              <a:t>Logistique</a:t>
            </a:r>
            <a:r>
              <a:rPr dirty="0"/>
              <a:t> (Production) :</a:t>
            </a:r>
          </a:p>
          <a:p>
            <a:pPr lvl="1"/>
            <a:r>
              <a:rPr dirty="0" err="1"/>
              <a:t>Utilisée</a:t>
            </a:r>
            <a:r>
              <a:rPr dirty="0"/>
              <a:t> pour le </a:t>
            </a:r>
            <a:r>
              <a:rPr dirty="0" err="1"/>
              <a:t>livrable</a:t>
            </a:r>
            <a:r>
              <a:rPr dirty="0"/>
              <a:t> final car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offre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Transparence </a:t>
            </a:r>
            <a:r>
              <a:rPr dirty="0" err="1"/>
              <a:t>Totale</a:t>
            </a:r>
            <a:r>
              <a:rPr dirty="0"/>
              <a:t> (</a:t>
            </a:r>
            <a:r>
              <a:rPr dirty="0" err="1"/>
              <a:t>exigée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banque</a:t>
            </a:r>
            <a:r>
              <a:rPr dirty="0"/>
              <a:t>).</a:t>
            </a:r>
          </a:p>
          <a:p>
            <a:pPr lvl="1"/>
            <a:r>
              <a:rPr dirty="0" err="1"/>
              <a:t>Génère</a:t>
            </a:r>
            <a:r>
              <a:rPr dirty="0"/>
              <a:t> des </a:t>
            </a:r>
            <a:r>
              <a:rPr dirty="0" err="1"/>
              <a:t>poids</a:t>
            </a:r>
            <a:r>
              <a:rPr dirty="0"/>
              <a:t> exacts </a:t>
            </a:r>
            <a:r>
              <a:rPr dirty="0" err="1"/>
              <a:t>exportables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application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Les déclencheurs de défaut (Random Forest)</a:t>
            </a:r>
          </a:p>
        </p:txBody>
      </p:sp>
      <p:pic>
        <p:nvPicPr>
          <p:cNvPr id="3" name="Picture 2" descr="feature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4162"/>
            <a:ext cx="838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L'Indice de Risque Machine Learning</a:t>
            </a:r>
          </a:p>
        </p:txBody>
      </p:sp>
      <p:pic>
        <p:nvPicPr>
          <p:cNvPr id="3" name="Picture 2" descr="risk_index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Évaluation et Score AUC-ROC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92510" cy="4525963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Méthodologie</a:t>
            </a:r>
            <a:r>
              <a:rPr dirty="0"/>
              <a:t> </a:t>
            </a:r>
            <a:r>
              <a:rPr dirty="0" err="1"/>
              <a:t>d'évaluation</a:t>
            </a:r>
            <a:r>
              <a:rPr dirty="0"/>
              <a:t> (Test sur </a:t>
            </a:r>
            <a:r>
              <a:rPr dirty="0" err="1"/>
              <a:t>données</a:t>
            </a:r>
            <a:r>
              <a:rPr dirty="0"/>
              <a:t> inconnues) :</a:t>
            </a:r>
          </a:p>
          <a:p>
            <a:pPr lvl="1"/>
            <a:r>
              <a:rPr dirty="0" err="1"/>
              <a:t>Séparation</a:t>
            </a:r>
            <a:r>
              <a:rPr dirty="0"/>
              <a:t> : 80% des clients pour </a:t>
            </a:r>
            <a:r>
              <a:rPr dirty="0" err="1"/>
              <a:t>l'apprentissage</a:t>
            </a:r>
            <a:r>
              <a:rPr dirty="0"/>
              <a:t>, 20% pour le test de validation.</a:t>
            </a:r>
          </a:p>
          <a:p>
            <a:r>
              <a:rPr dirty="0"/>
              <a:t>Performance </a:t>
            </a:r>
            <a:r>
              <a:rPr dirty="0" err="1"/>
              <a:t>obtenue</a:t>
            </a:r>
            <a:r>
              <a:rPr dirty="0"/>
              <a:t> : AUC = 0.76</a:t>
            </a:r>
          </a:p>
          <a:p>
            <a:pPr lvl="1"/>
            <a:r>
              <a:rPr dirty="0" err="1"/>
              <a:t>Interprétation</a:t>
            </a:r>
            <a:r>
              <a:rPr dirty="0"/>
              <a:t> métier : Si on </a:t>
            </a:r>
            <a:r>
              <a:rPr dirty="0" err="1"/>
              <a:t>prend</a:t>
            </a:r>
            <a:r>
              <a:rPr dirty="0"/>
              <a:t> au </a:t>
            </a:r>
            <a:r>
              <a:rPr dirty="0" err="1"/>
              <a:t>hasard</a:t>
            </a:r>
            <a:r>
              <a:rPr dirty="0"/>
              <a:t> un '</a:t>
            </a:r>
            <a:r>
              <a:rPr dirty="0" err="1"/>
              <a:t>Mauvais</a:t>
            </a:r>
            <a:r>
              <a:rPr dirty="0"/>
              <a:t> </a:t>
            </a:r>
            <a:r>
              <a:rPr dirty="0" err="1"/>
              <a:t>payeur</a:t>
            </a:r>
            <a:r>
              <a:rPr dirty="0"/>
              <a:t>' et un 'Bon </a:t>
            </a:r>
            <a:r>
              <a:rPr dirty="0" err="1"/>
              <a:t>payeur</a:t>
            </a:r>
            <a:r>
              <a:rPr dirty="0"/>
              <a:t>',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classera</a:t>
            </a:r>
            <a:r>
              <a:rPr dirty="0"/>
              <a:t> </a:t>
            </a:r>
            <a:r>
              <a:rPr dirty="0" err="1"/>
              <a:t>correctement</a:t>
            </a:r>
            <a:r>
              <a:rPr dirty="0"/>
              <a:t> le </a:t>
            </a:r>
            <a:r>
              <a:rPr dirty="0" err="1"/>
              <a:t>profil</a:t>
            </a:r>
            <a:r>
              <a:rPr dirty="0"/>
              <a:t> risqué dans 76% des </a:t>
            </a:r>
            <a:r>
              <a:rPr dirty="0" err="1"/>
              <a:t>cas</a:t>
            </a:r>
            <a:r>
              <a:rPr dirty="0"/>
              <a:t>.</a:t>
            </a:r>
          </a:p>
          <a:p>
            <a:pPr lvl="1"/>
            <a:r>
              <a:rPr dirty="0" err="1"/>
              <a:t>C'est</a:t>
            </a:r>
            <a:r>
              <a:rPr dirty="0"/>
              <a:t> un score </a:t>
            </a:r>
            <a:r>
              <a:rPr dirty="0" err="1"/>
              <a:t>robuste</a:t>
            </a:r>
            <a:r>
              <a:rPr dirty="0"/>
              <a:t> et </a:t>
            </a:r>
            <a:r>
              <a:rPr dirty="0" err="1"/>
              <a:t>suffisant</a:t>
            </a:r>
            <a:r>
              <a:rPr dirty="0"/>
              <a:t> pour </a:t>
            </a:r>
            <a:r>
              <a:rPr dirty="0" err="1"/>
              <a:t>automatiser</a:t>
            </a:r>
            <a:r>
              <a:rPr dirty="0"/>
              <a:t> un premier </a:t>
            </a:r>
            <a:r>
              <a:rPr dirty="0" err="1"/>
              <a:t>filtrage</a:t>
            </a:r>
            <a:r>
              <a:rPr dirty="0"/>
              <a:t> </a:t>
            </a:r>
            <a:r>
              <a:rPr dirty="0" err="1"/>
              <a:t>bancaire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Mise en Production (Simulateur Web)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déploiement moderne et Serverless :</a:t>
            </a:r>
          </a:p>
          <a:p>
            <a:pPr lvl="1"/>
            <a:r>
              <a:t>Le script Python extrait l'équation de l'IA (Poids) au format JSON.</a:t>
            </a:r>
          </a:p>
          <a:p>
            <a:pPr lvl="1"/>
            <a:r>
              <a:t>Création d'un Dashboard interactif en HTML / JS / TailwindCSS.</a:t>
            </a:r>
          </a:p>
          <a:p>
            <a:pPr lvl="1"/>
            <a:r>
              <a:t>Aide à la décision : L'interface affiche une jauge de risque instantanée et un code couleur (Vert, Orange, Rouge).</a:t>
            </a:r>
          </a:p>
          <a:p>
            <a:r>
              <a:t>Démonstration du simulateur...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426</Words>
  <Application>Microsoft Office PowerPoint</Application>
  <PresentationFormat>Affichage à l'écran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Modélisation du Risque de Crédit (Credit Risk Scoring)</vt:lpstr>
      <vt:lpstr>1. Contexte &amp; Objectifs du Projet</vt:lpstr>
      <vt:lpstr>2. Préparation et Feature Engineering</vt:lpstr>
      <vt:lpstr>3. Exploration : Analyse Bivariée (Preuve Visuelle)</vt:lpstr>
      <vt:lpstr>4. Mesure d'intensité : Matrice de Corrélation</vt:lpstr>
      <vt:lpstr>5. Justification des Algorithmes (IA)</vt:lpstr>
      <vt:lpstr>6. Les déclencheurs de défaut (Random Forest)</vt:lpstr>
      <vt:lpstr>7. L'Indice de Risque Machine Learning</vt:lpstr>
      <vt:lpstr>8. Évaluation et Score AUC-ROC</vt:lpstr>
      <vt:lpstr>9. Mise en Production (Simulateur Web)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Modélisation du Risque de Crédit (Credit Risk Scoring)</dc:title>
  <dc:subject/>
  <dc:creator/>
  <cp:keywords/>
  <dc:description>generated using python-pptx</dc:description>
  <cp:lastModifiedBy>David Janvion Hamayadji Ngomna</cp:lastModifiedBy>
  <cp:revision>2</cp:revision>
  <dcterms:created xsi:type="dcterms:W3CDTF">2013-01-27T09:14:16Z</dcterms:created>
  <dcterms:modified xsi:type="dcterms:W3CDTF">2026-08-29T15:33:17Z</dcterms:modified>
  <cp:category/>
</cp:coreProperties>
</file>